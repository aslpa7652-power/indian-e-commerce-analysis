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6EBF5"/>
                </a:solidFill>
                <a:latin typeface="Arial"/>
              </a:defRPr>
            </a:pPr>
            <a:r>
              <a:rPr sz="1400" b="0" i="0" u="none" strike="noStrike">
                <a:solidFill>
                  <a:srgbClr val="E6EBF5"/>
                </a:solidFill>
                <a:latin typeface="Arial"/>
              </a:rPr>
              <a:t>Delivered revenue by year (₹ million)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7A869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6EB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A869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A869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546.8</c:v>
                </c:pt>
                <c:pt idx="1">
                  <c:v>536.3</c:v>
                </c:pt>
                <c:pt idx="2">
                  <c:v>901.8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E6EB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EB8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2631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EB8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6EBF5"/>
                </a:solidFill>
                <a:latin typeface="Arial"/>
              </a:defRPr>
            </a:pPr>
            <a:r>
              <a:rPr sz="1400" b="0" i="0" u="none" strike="noStrike">
                <a:solidFill>
                  <a:srgbClr val="E6EBF5"/>
                </a:solidFill>
                <a:latin typeface="Arial"/>
              </a:rPr>
              <a:t>All orders by year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7A869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6EB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A869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A869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26750</c:v>
                </c:pt>
                <c:pt idx="1">
                  <c:v>26730</c:v>
                </c:pt>
                <c:pt idx="2">
                  <c:v>46520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6EB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EB8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2631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EB8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6EBF5"/>
                </a:solidFill>
                <a:latin typeface="Arial"/>
              </a:defRPr>
            </a:pPr>
            <a:r>
              <a:rPr sz="1400" b="0" i="0" u="none" strike="noStrike">
                <a:solidFill>
                  <a:srgbClr val="E6EBF5"/>
                </a:solidFill>
                <a:latin typeface="Arial"/>
              </a:rPr>
              <a:t>Revenue by category (₹ million)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</c:v>
                </c:pt>
              </c:strCache>
            </c:strRef>
          </c:tx>
          <c:spPr>
            <a:solidFill>
              <a:srgbClr val="FF9F1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6EB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9F1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Electronics</c:v>
                  </c:pt>
                  <c:pt idx="1">
                    <c:v>Appliances</c:v>
                  </c:pt>
                  <c:pt idx="2">
                    <c:v>Home &amp; Kitchen</c:v>
                  </c:pt>
                  <c:pt idx="3">
                    <c:v>Furniture</c:v>
                  </c:pt>
                  <c:pt idx="4">
                    <c:v>Fashion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994</c:v>
                </c:pt>
                <c:pt idx="1">
                  <c:v>326</c:v>
                </c:pt>
                <c:pt idx="2">
                  <c:v>128</c:v>
                </c:pt>
                <c:pt idx="3">
                  <c:v>121</c:v>
                </c:pt>
                <c:pt idx="4">
                  <c:v>113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E6EB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EB8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631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EB8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6EBF5"/>
                </a:solidFill>
                <a:latin typeface="Arial"/>
              </a:defRPr>
            </a:pPr>
            <a:r>
              <a:rPr sz="1400" b="0" i="0" u="none" strike="noStrike">
                <a:solidFill>
                  <a:srgbClr val="E6EBF5"/>
                </a:solidFill>
                <a:latin typeface="Arial"/>
              </a:rPr>
              <a:t>Profit margin by category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</c:v>
                </c:pt>
              </c:strCache>
            </c:strRef>
          </c:tx>
          <c:spPr>
            <a:solidFill>
              <a:srgbClr val="FF4D6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6EB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4D6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9F1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E59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Electronics</c:v>
                  </c:pt>
                  <c:pt idx="1">
                    <c:v>Appliances</c:v>
                  </c:pt>
                  <c:pt idx="2">
                    <c:v>Home &amp; Kitchen</c:v>
                  </c:pt>
                  <c:pt idx="3">
                    <c:v>Furniture</c:v>
                  </c:pt>
                  <c:pt idx="4">
                    <c:v>Fashion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</c:v>
                </c:pt>
                <c:pt idx="1">
                  <c:v>3.9</c:v>
                </c:pt>
                <c:pt idx="2">
                  <c:v>18</c:v>
                </c:pt>
                <c:pt idx="3">
                  <c:v>9.7</c:v>
                </c:pt>
                <c:pt idx="4">
                  <c:v>33.2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E6EB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EB8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631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EB8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6EBF5"/>
                </a:solidFill>
                <a:latin typeface="Arial"/>
              </a:defRPr>
            </a:pPr>
            <a:r>
              <a:rPr sz="1400" b="0" i="0" u="none" strike="noStrike">
                <a:solidFill>
                  <a:srgbClr val="E6EBF5"/>
                </a:solidFill>
                <a:latin typeface="Arial"/>
              </a:rPr>
              <a:t>Margin by discount band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6EB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4D6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4D6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0-5%</c:v>
                  </c:pt>
                  <c:pt idx="1">
                    <c:v>5-10%</c:v>
                  </c:pt>
                  <c:pt idx="2">
                    <c:v>10-20%</c:v>
                  </c:pt>
                  <c:pt idx="3">
                    <c:v>20-30%</c:v>
                  </c:pt>
                  <c:pt idx="4">
                    <c:v>30%+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</c:v>
                </c:pt>
                <c:pt idx="1">
                  <c:v>12</c:v>
                </c:pt>
                <c:pt idx="2">
                  <c:v>4</c:v>
                </c:pt>
                <c:pt idx="3">
                  <c:v>-9</c:v>
                </c:pt>
                <c:pt idx="4">
                  <c:v>-18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E6EB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EB8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631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EB8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6EBF5"/>
                </a:solidFill>
                <a:latin typeface="Arial"/>
              </a:defRPr>
            </a:pPr>
            <a:r>
              <a:rPr sz="1400" b="0" i="0" u="none" strike="noStrike">
                <a:solidFill>
                  <a:srgbClr val="E6EBF5"/>
                </a:solidFill>
                <a:latin typeface="Arial"/>
              </a:rPr>
              <a:t>Loyalty tier: customers vs spend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 %</c:v>
                </c:pt>
              </c:strCache>
            </c:strRef>
          </c:tx>
          <c:spPr>
            <a:solidFill>
              <a:srgbClr val="7A869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6EB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Platinum</c:v>
                  </c:pt>
                  <c:pt idx="1">
                    <c:v>Gold</c:v>
                  </c:pt>
                  <c:pt idx="2">
                    <c:v>Silver</c:v>
                  </c:pt>
                  <c:pt idx="3">
                    <c:v>Bronze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4.5</c:v>
                </c:pt>
                <c:pt idx="1">
                  <c:v>13.6</c:v>
                </c:pt>
                <c:pt idx="2">
                  <c:v>27.2</c:v>
                </c:pt>
                <c:pt idx="3">
                  <c:v>54.6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Spend %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6EB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Platinum</c:v>
                  </c:pt>
                  <c:pt idx="1">
                    <c:v>Gold</c:v>
                  </c:pt>
                  <c:pt idx="2">
                    <c:v>Silver</c:v>
                  </c:pt>
                  <c:pt idx="3">
                    <c:v>Bronze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23.5</c:v>
                </c:pt>
                <c:pt idx="1">
                  <c:v>36.3</c:v>
                </c:pt>
                <c:pt idx="2">
                  <c:v>30.2</c:v>
                </c:pt>
                <c:pt idx="3">
                  <c:v>10.1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E6EB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EB8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631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EB8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E6EBF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6EBF5"/>
                </a:solidFill>
                <a:latin typeface="Arial"/>
              </a:defRPr>
            </a:pPr>
            <a:r>
              <a:rPr sz="1400" b="0" i="0" u="none" strike="noStrike">
                <a:solidFill>
                  <a:srgbClr val="E6EBF5"/>
                </a:solidFill>
                <a:latin typeface="Arial"/>
              </a:rPr>
              <a:t>Customer status (25,000)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4D6D"/>
              </a:solidFill>
              <a:effectLst/>
            </c:spPr>
          </c:dPt>
          <c:dPt>
            <c:idx val="1"/>
            <c:bubble3D val="0"/>
            <c:spPr>
              <a:solidFill>
                <a:srgbClr val="2EE59D"/>
              </a:solidFill>
              <a:effectLst/>
            </c:spPr>
          </c:dPt>
          <c:dPt>
            <c:idx val="2"/>
            <c:bubble3D val="0"/>
            <c:spPr>
              <a:solidFill>
                <a:srgbClr val="7A869F"/>
              </a:solidFill>
              <a:effectLst/>
            </c:spPr>
          </c:dPt>
          <c:dPt>
            <c:idx val="3"/>
            <c:bubble3D val="0"/>
            <c:spPr>
              <a:solidFill>
                <a:srgbClr val="FF9F1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E6EBF5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E6EBF5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E6EBF5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E6EBF5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Churned</c:v>
                </c:pt>
                <c:pt idx="1">
                  <c:v>Active</c:v>
                </c:pt>
                <c:pt idx="2">
                  <c:v>Never purchased</c:v>
                </c:pt>
                <c:pt idx="3">
                  <c:v>At risk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13365</c:v>
                </c:pt>
                <c:pt idx="1">
                  <c:v>7234</c:v>
                </c:pt>
                <c:pt idx="2">
                  <c:v>2300</c:v>
                </c:pt>
                <c:pt idx="3">
                  <c:v>2101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E6EBF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6EBF5"/>
                </a:solidFill>
                <a:latin typeface="Arial"/>
              </a:defRPr>
            </a:pPr>
            <a:r>
              <a:rPr sz="1400" b="0" i="0" u="none" strike="noStrike">
                <a:solidFill>
                  <a:srgbClr val="E6EBF5"/>
                </a:solidFill>
                <a:latin typeface="Arial"/>
              </a:rPr>
              <a:t>New customers by signup year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Signups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6EB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9F1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11479</c:v>
                </c:pt>
                <c:pt idx="1">
                  <c:v>6177</c:v>
                </c:pt>
                <c:pt idx="2">
                  <c:v>7344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6EB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EB8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2631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EB8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6EBF5"/>
                </a:solidFill>
                <a:latin typeface="Arial"/>
              </a:defRPr>
            </a:pPr>
            <a:r>
              <a:rPr sz="1400" b="0" i="0" u="none" strike="noStrike">
                <a:solidFill>
                  <a:srgbClr val="E6EBF5"/>
                </a:solidFill>
                <a:latin typeface="Arial"/>
              </a:rPr>
              <a:t>Late deliveries by shipping method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Delayed</c:v>
                </c:pt>
              </c:strCache>
            </c:strRef>
          </c:tx>
          <c:spPr>
            <a:solidFill>
              <a:srgbClr val="FF4D6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6EB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4D6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4D6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E59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Same-Day</c:v>
                  </c:pt>
                  <c:pt idx="1">
                    <c:v>Standard</c:v>
                  </c:pt>
                  <c:pt idx="2">
                    <c:v>Express</c:v>
                  </c:pt>
                  <c:pt idx="3">
                    <c:v>Economy</c:v>
                  </c:pt>
                  <c:pt idx="4">
                    <c:v>Next-Day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57.6</c:v>
                </c:pt>
                <c:pt idx="1">
                  <c:v>54.9</c:v>
                </c:pt>
                <c:pt idx="2">
                  <c:v>39.8</c:v>
                </c:pt>
                <c:pt idx="3">
                  <c:v>38.3</c:v>
                </c:pt>
                <c:pt idx="4">
                  <c:v>10.9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E6EB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EB8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631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EB8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6EBF5"/>
                </a:solidFill>
                <a:latin typeface="Arial"/>
              </a:defRPr>
            </a:pPr>
            <a:r>
              <a:rPr sz="1400" b="0" i="0" u="none" strike="noStrike">
                <a:solidFill>
                  <a:srgbClr val="E6EBF5"/>
                </a:solidFill>
                <a:latin typeface="Arial"/>
              </a:rPr>
              <a:t>Return reasons (count)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Returns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6EB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9F1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9F1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F9F1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F9F1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7A869F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Size issue</c:v>
                  </c:pt>
                  <c:pt idx="1">
                    <c:v>Changed mind</c:v>
                  </c:pt>
                  <c:pt idx="2">
                    <c:v>Product damaged</c:v>
                  </c:pt>
                  <c:pt idx="3">
                    <c:v>Quality issue</c:v>
                  </c:pt>
                  <c:pt idx="4">
                    <c:v>Not as expected</c:v>
                  </c:pt>
                  <c:pt idx="5">
                    <c:v>Wrong product</c:v>
                  </c:pt>
                  <c:pt idx="6">
                    <c:v>Late delivery</c:v>
                  </c:pt>
                  <c:pt idx="7">
                    <c:v>Other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2201</c:v>
                </c:pt>
                <c:pt idx="1">
                  <c:v>1984</c:v>
                </c:pt>
                <c:pt idx="2">
                  <c:v>1933</c:v>
                </c:pt>
                <c:pt idx="3">
                  <c:v>1692</c:v>
                </c:pt>
                <c:pt idx="4">
                  <c:v>1442</c:v>
                </c:pt>
                <c:pt idx="5">
                  <c:v>1394</c:v>
                </c:pt>
                <c:pt idx="6">
                  <c:v>960</c:v>
                </c:pt>
                <c:pt idx="7">
                  <c:v>469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6EB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EB8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631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EB8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chart" Target="/ppt/charts/chart8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C542"/>
                </a:solidFill>
              </a:rPr>
              <a:t>INDIAN E-COMMERCE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97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E6EBF5"/>
                </a:solidFill>
              </a:rPr>
              <a:t>Performance Analysis Dashboard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57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D4FF"/>
                </a:solidFill>
              </a:rPr>
              <a:t>Python  |  SQL  |  Power BI      Jan 2023 – Dec 2025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8CC"/>
                </a:solidFill>
              </a:rPr>
              <a:t>1,00,000 orders · 25,000 customers · 9 data tables · 4 dashboard pages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42"/>
                </a:solidFill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</a:rPr>
              <a:t>Raw data to business decisions in three steps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3619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</a:rPr>
              <a:t>1,00,000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167128"/>
            <a:ext cx="237744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Orders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53619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</a:rPr>
              <a:t>25,000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167128"/>
            <a:ext cx="237744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Customers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153619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</a:rPr>
              <a:t>550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167128"/>
            <a:ext cx="237744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Products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61120" y="146304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98280" y="153619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</a:rPr>
              <a:t>36 months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2167128"/>
            <a:ext cx="237744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Jan 2023 – Dec 2025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3611880" cy="2377440"/>
          </a:xfrm>
          <a:prstGeom prst="roundRect">
            <a:avLst>
              <a:gd name="adj" fmla="val 3846"/>
            </a:avLst>
          </a:prstGeom>
          <a:solidFill>
            <a:srgbClr val="141B2D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2461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1. Python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88620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BF5"/>
                </a:solidFill>
              </a:rPr>
              <a:t>Cleaned 9 tables with pandas: checked duplicates, filled missing values, fixed date types.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251960" y="3108960"/>
            <a:ext cx="3611880" cy="2377440"/>
          </a:xfrm>
          <a:prstGeom prst="roundRect">
            <a:avLst>
              <a:gd name="adj" fmla="val 3846"/>
            </a:avLst>
          </a:prstGeom>
          <a:solidFill>
            <a:srgbClr val="141B2D"/>
          </a:solidFill>
          <a:ln w="19050">
            <a:solidFill>
              <a:srgbClr val="FF9F1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34840" y="32461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F1C"/>
                </a:solidFill>
              </a:rPr>
              <a:t>2. SQL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4434840" y="388620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BF5"/>
                </a:solidFill>
              </a:rPr>
              <a:t>Answered business questions in MySQL: customers, products, revenue, repeat purchase, campaigns.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046720" y="3108960"/>
            <a:ext cx="3611880" cy="2377440"/>
          </a:xfrm>
          <a:prstGeom prst="roundRect">
            <a:avLst>
              <a:gd name="adj" fmla="val 3846"/>
            </a:avLst>
          </a:prstGeom>
          <a:solidFill>
            <a:srgbClr val="141B2D"/>
          </a:solidFill>
          <a:ln w="19050">
            <a:solidFill>
              <a:srgbClr val="2EE59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0" y="32461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E59D"/>
                </a:solidFill>
              </a:rPr>
              <a:t>3. Power BI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388620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BF5"/>
                </a:solidFill>
              </a:rPr>
              <a:t>Built 4 dashboard pages with DAX measures: Executive Overview, Product &amp; Sales, Customers, Operations.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42"/>
                </a:solidFill>
              </a:rPr>
              <a:t>Data Sources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</a:rPr>
              <a:t>9 tables, linked through order_id, customer_id, product_id and campaign_id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463040"/>
                <a:gridCol w="68580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0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0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0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5C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date, status, state, amount, channel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5C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order_items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2,54,331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Quantity, revenue, cost, profit per item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5C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Segment, loyalty tier, status, signup year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5C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Category, brand, price, cost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5C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shipments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89,681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Dispatch, delivery days, delay flag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5C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Method, status, amount, refund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5C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customer_reviews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77,530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Rating, sentiment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5C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Reason, status, refund amount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5C5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marketing_campaigns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B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Channel, cost, revenue, ROI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42"/>
                </a:solidFill>
              </a:rPr>
              <a:t>Cleaning and Methodology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</a:rPr>
              <a:t>What was changed in the data, and how the metrics are defined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141B2D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Python cleaning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</a:rPr>
              <a:t>No duplicate rows found in any table; no rows deleted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</a:rPr>
              <a:t>Missing review sentiment (233) filled from the rating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</a:rPr>
              <a:t>Missing age (250) filled with the median of its age group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</a:rPr>
              <a:t>Missing preferred device (125) set to "Unknown"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</a:rPr>
              <a:t>Missing product rating (4) filled with the category median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</a:rPr>
              <a:t>Text dates converted to date type; year, month, day columns added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141B2D"/>
          </a:solidFill>
          <a:ln w="19050">
            <a:solidFill>
              <a:srgbClr val="2EE59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E59D"/>
                </a:solidFill>
              </a:rPr>
              <a:t>Metric definitions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103120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</a:rPr>
              <a:t>Revenue and profit: Delivered orders only (₹1.98bn, ₹158.6M)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</a:rPr>
              <a:t>Margin = profit ÷ item revenue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</a:rPr>
              <a:t>Churn rate = churned ÷ customers who ever bought (58.9%)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</a:rPr>
              <a:t>Late delivery = delayed flag on delivered shipments (42.9%)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</a:rPr>
              <a:t>Return rate = orders with a return ÷ all orders (9.5%)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</a:rPr>
              <a:t>Customer spend fields include all order statuses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42"/>
                </a:solidFill>
              </a:rPr>
              <a:t>Business at a Glance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</a:rPr>
              <a:t>Delivered orders, Jan 2023 – Dec 2025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783080" cy="1188720"/>
          </a:xfrm>
          <a:prstGeom prst="roundRect">
            <a:avLst>
              <a:gd name="adj" fmla="val 7692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4475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₹1.98bn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25396"/>
            <a:ext cx="150876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Revenue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350008" y="1371600"/>
            <a:ext cx="1783080" cy="1188720"/>
          </a:xfrm>
          <a:prstGeom prst="roundRect">
            <a:avLst>
              <a:gd name="adj" fmla="val 7692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87168" y="144475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E59D"/>
                </a:solidFill>
              </a:rPr>
              <a:t>₹158.6M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487168" y="2025396"/>
            <a:ext cx="150876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Profit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42816" y="1371600"/>
            <a:ext cx="1783080" cy="1188720"/>
          </a:xfrm>
          <a:prstGeom prst="roundRect">
            <a:avLst>
              <a:gd name="adj" fmla="val 7692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79976" y="144475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8%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379976" y="2025396"/>
            <a:ext cx="150876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Profit margin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35624" y="1371600"/>
            <a:ext cx="1783080" cy="1188720"/>
          </a:xfrm>
          <a:prstGeom prst="roundRect">
            <a:avLst>
              <a:gd name="adj" fmla="val 7692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72784" y="144475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1,00,000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272784" y="2025396"/>
            <a:ext cx="150876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Total orders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28432" y="1371600"/>
            <a:ext cx="1783080" cy="1188720"/>
          </a:xfrm>
          <a:prstGeom prst="roundRect">
            <a:avLst>
              <a:gd name="adj" fmla="val 7692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65592" y="144475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₹24.6K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165592" y="2025396"/>
            <a:ext cx="150876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Avg order value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921240" y="1371600"/>
            <a:ext cx="1783080" cy="1188720"/>
          </a:xfrm>
          <a:prstGeom prst="roundRect">
            <a:avLst>
              <a:gd name="adj" fmla="val 7692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58400" y="144475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D6D"/>
                </a:solidFill>
              </a:rPr>
              <a:t>9.5%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0" y="2025396"/>
            <a:ext cx="150876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Return rate</a:t>
            </a:r>
            <a:endParaRPr lang="en-US" sz="12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457200" y="2743200"/>
          <a:ext cx="36576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3" name="Chart 1" descr=""/>
          <p:cNvGraphicFramePr/>
          <p:nvPr/>
        </p:nvGraphicFramePr>
        <p:xfrm>
          <a:off x="4206240" y="2743200"/>
          <a:ext cx="36576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Shape 20"/>
          <p:cNvSpPr/>
          <p:nvPr/>
        </p:nvSpPr>
        <p:spPr>
          <a:xfrm>
            <a:off x="8046720" y="2834640"/>
            <a:ext cx="3657600" cy="3383280"/>
          </a:xfrm>
          <a:prstGeom prst="roundRect">
            <a:avLst>
              <a:gd name="adj" fmla="val 2703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229600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C542"/>
                </a:solidFill>
              </a:rPr>
              <a:t>What this shows</a:t>
            </a:r>
            <a:endParaRPr lang="en-US" sz="1700" dirty="0"/>
          </a:p>
        </p:txBody>
      </p:sp>
      <p:sp>
        <p:nvSpPr>
          <p:cNvPr id="26" name="Text 22"/>
          <p:cNvSpPr txBox="1"/>
          <p:nvPr/>
        </p:nvSpPr>
        <p:spPr>
          <a:xfrm>
            <a:off x="8229600" y="347472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BF5"/>
                </a:solidFill>
              </a:rPr>
              <a:t>2025 revenue grew 68% over 2024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BF5"/>
                </a:solidFill>
              </a:rPr>
              <a:t>Orders rose 74% in 2025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BF5"/>
                </a:solidFill>
              </a:rPr>
              <a:t>Margin stayed steady: 7.8%, 7.9%, 8.2%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42"/>
                </a:solidFill>
              </a:rPr>
              <a:t>Executive Overview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</a:rPr>
              <a:t>Power BI dashboard, page 1</a:t>
            </a:r>
            <a:endParaRPr lang="en-US" sz="1400" dirty="0"/>
          </a:p>
        </p:txBody>
      </p:sp>
      <p:pic>
        <p:nvPicPr>
          <p:cNvPr id="4" name="Image 0" descr="/mnt/user-data/uploads/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589520" cy="41881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21040" y="141732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58200" y="149047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</a:rPr>
              <a:t>₹1.98bn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8458200" y="2221992"/>
            <a:ext cx="315468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Revenue, ₹158.6M profit, 8% margin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321040" y="301752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58200" y="309067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E59D"/>
                </a:solidFill>
              </a:rPr>
              <a:t>3.5x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8458200" y="3822192"/>
            <a:ext cx="315468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Dec 2025 orders (9.6K) vs Dec 2024 (2.7K)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321040" y="461772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58200" y="469087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4D6D"/>
                </a:solidFill>
              </a:rPr>
              <a:t>~50% / 1%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8458200" y="5422392"/>
            <a:ext cx="315468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Electronics: share of revenue / profit margin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42"/>
                </a:solidFill>
              </a:rPr>
              <a:t>Executive Overview: Key Insights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</a:rPr>
              <a:t>What the data shows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47120" cy="4983480"/>
          </a:xfrm>
          <a:prstGeom prst="roundRect">
            <a:avLst>
              <a:gd name="adj" fmla="val 1835"/>
            </a:avLst>
          </a:prstGeom>
          <a:solidFill>
            <a:srgbClr val="141B2D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107899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900" b="1" dirty="0">
                <a:solidFill>
                  <a:srgbClr val="00D4FF"/>
                </a:solidFill>
              </a:rPr>
              <a:t>Profit Trend: </a:t>
            </a:r>
            <a:pPr indent="0" marL="0">
              <a:spcAft>
                <a:spcPts val="700"/>
              </a:spcAft>
              <a:buNone/>
            </a:pPr>
            <a:r>
              <a:rPr lang="en-US" sz="1900" dirty="0">
                <a:solidFill>
                  <a:srgbClr val="E6EBF5"/>
                </a:solidFill>
              </a:rPr>
              <a:t>Net profit stood at ₹42.6M in 2023, ₹42.1M in 2024, and surged to ₹73.9M in 2025. Monthly profit peaked at ₹13.0M in December 2025, with Q4 2025 alone contributing ~42% of the total annual profit.</a:t>
            </a:r>
            <a:endParaRPr lang="en-US" sz="19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900" b="1" dirty="0">
                <a:solidFill>
                  <a:srgbClr val="00D4FF"/>
                </a:solidFill>
              </a:rPr>
              <a:t>Category Revenue: </a:t>
            </a:r>
            <a:pPr indent="0" marL="0">
              <a:spcAft>
                <a:spcPts val="700"/>
              </a:spcAft>
              <a:buNone/>
            </a:pPr>
            <a:r>
              <a:rPr lang="en-US" sz="1900" dirty="0">
                <a:solidFill>
                  <a:srgbClr val="E6EBF5"/>
                </a:solidFill>
              </a:rPr>
              <a:t>Electronics generated ₹994M (~50% share) and Appliances generated ₹326M. Combined, they drive ~66% of total revenue.</a:t>
            </a:r>
            <a:endParaRPr lang="en-US" sz="19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900" b="1" dirty="0">
                <a:solidFill>
                  <a:srgbClr val="00D4FF"/>
                </a:solidFill>
              </a:rPr>
              <a:t>Top Margins: </a:t>
            </a:r>
            <a:pPr indent="0" marL="0">
              <a:spcAft>
                <a:spcPts val="700"/>
              </a:spcAft>
              <a:buNone/>
            </a:pPr>
            <a:r>
              <a:rPr lang="en-US" sz="1900" dirty="0">
                <a:solidFill>
                  <a:srgbClr val="E6EBF5"/>
                </a:solidFill>
              </a:rPr>
              <a:t>High-margin categories include Personal Care (25%), Beauty (26%), Bags (29%), Footwear (29%), and Fashion (33%). However, the overall company margin sits at just 8%.</a:t>
            </a:r>
            <a:endParaRPr lang="en-US" sz="19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900" b="1" dirty="0">
                <a:solidFill>
                  <a:srgbClr val="00D4FF"/>
                </a:solidFill>
              </a:rPr>
              <a:t>State Revenue Distribution: </a:t>
            </a:r>
            <a:pPr indent="0" marL="0">
              <a:spcAft>
                <a:spcPts val="700"/>
              </a:spcAft>
              <a:buNone/>
            </a:pPr>
            <a:r>
              <a:rPr lang="en-US" sz="1900" dirty="0">
                <a:solidFill>
                  <a:srgbClr val="E6EBF5"/>
                </a:solidFill>
              </a:rPr>
              <a:t>Maharashtra led with ₹291M, followed by Uttar Pradesh (₹232M) and Gujarat (₹219M). The top 3 states account for 36%, and the top 5 states account for 51% of total revenue across 15 states.</a:t>
            </a:r>
            <a:endParaRPr lang="en-US" sz="19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900" b="1" dirty="0">
                <a:solidFill>
                  <a:srgbClr val="00D4FF"/>
                </a:solidFill>
              </a:rPr>
              <a:t>Order Fulfillment Status: </a:t>
            </a:r>
            <a:pPr indent="0" marL="0">
              <a:spcAft>
                <a:spcPts val="700"/>
              </a:spcAft>
              <a:buNone/>
            </a:pPr>
            <a:r>
              <a:rPr lang="en-US" sz="1900" dirty="0">
                <a:solidFill>
                  <a:srgbClr val="E6EBF5"/>
                </a:solidFill>
              </a:rPr>
              <a:t>80.7% of orders were successfully delivered. Revenue leakage stands at ~17.7% due to cancellations (8.1%), returns (6.7%), and failed orders (2.9%).</a:t>
            </a:r>
            <a:endParaRPr lang="en-US" sz="19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900" b="1" dirty="0">
                <a:solidFill>
                  <a:srgbClr val="00D4FF"/>
                </a:solidFill>
              </a:rPr>
              <a:t>Geographic Concentration: </a:t>
            </a:r>
            <a:pPr indent="0" marL="0">
              <a:spcAft>
                <a:spcPts val="700"/>
              </a:spcAft>
              <a:buNone/>
            </a:pPr>
            <a:r>
              <a:rPr lang="en-US" sz="1900" dirty="0">
                <a:solidFill>
                  <a:srgbClr val="E6EBF5"/>
                </a:solidFill>
              </a:rPr>
              <a:t>Revenue remains heavily concentrated in high-volume states: Maharashtra, Uttar Pradesh, Gujarat, Karnataka, and Tamil Nadu.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42"/>
                </a:solidFill>
              </a:rPr>
              <a:t>Executive Overview: Recommendations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</a:rPr>
              <a:t>What to do next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47120" cy="4983480"/>
          </a:xfrm>
          <a:prstGeom prst="roundRect">
            <a:avLst>
              <a:gd name="adj" fmla="val 1835"/>
            </a:avLst>
          </a:prstGeom>
          <a:solidFill>
            <a:srgbClr val="141B2D"/>
          </a:solidFill>
          <a:ln w="19050">
            <a:solidFill>
              <a:srgbClr val="2EE59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107899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2100" dirty="0">
                <a:solidFill>
                  <a:srgbClr val="E6EBF5"/>
                </a:solidFill>
              </a:rPr>
              <a:t>Identify the root drivers behind the Q4 2025 surge (promotional campaigns, festive sales) to proactively forecast inventory and logistics capacity.</a:t>
            </a:r>
            <a:endParaRPr lang="en-US" sz="21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2100" dirty="0">
                <a:solidFill>
                  <a:srgbClr val="E6EBF5"/>
                </a:solidFill>
              </a:rPr>
              <a:t>Reduce overall dependency on Electronics by renegotiating vendor costs and restructuring product pricing.</a:t>
            </a:r>
            <a:endParaRPr lang="en-US" sz="21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2100" dirty="0">
                <a:solidFill>
                  <a:srgbClr val="E6EBF5"/>
                </a:solidFill>
              </a:rPr>
              <a:t>Scale marketing spend and inventory allocation for high-margin categories (Fashion, Footwear, Bags, Beauty, and Personal Care).</a:t>
            </a:r>
            <a:endParaRPr lang="en-US" sz="21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2100" dirty="0">
                <a:solidFill>
                  <a:srgbClr val="E6EBF5"/>
                </a:solidFill>
              </a:rPr>
              <a:t>Strengthen fulfillment infrastructure in the top 5 states while running targeted, lean pilot campaigns in smaller states.</a:t>
            </a:r>
            <a:endParaRPr lang="en-US" sz="21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2100" dirty="0">
                <a:solidFill>
                  <a:srgbClr val="E6EBF5"/>
                </a:solidFill>
              </a:rPr>
              <a:t>Audit cancellation and failure patterns to minimize the 17.7% non-realized order leakage.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42"/>
                </a:solidFill>
              </a:rPr>
              <a:t>Product &amp; Sales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</a:rPr>
              <a:t>Power BI dashboard, page 2</a:t>
            </a:r>
            <a:endParaRPr lang="en-US" sz="1400" dirty="0"/>
          </a:p>
        </p:txBody>
      </p:sp>
      <p:pic>
        <p:nvPicPr>
          <p:cNvPr id="4" name="Image 0" descr="/mnt/user-data/uploads/p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589520" cy="428347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21040" y="141732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58200" y="149047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4D6D"/>
                </a:solidFill>
              </a:rPr>
              <a:t>-18%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8458200" y="2221992"/>
            <a:ext cx="315468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Margin above 30% discount (-9% for 20-30%)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321040" y="301752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58200" y="309067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9F1C"/>
                </a:solidFill>
              </a:rPr>
              <a:t>-₹69.8M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8458200" y="3822192"/>
            <a:ext cx="315468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Lost on loss-making items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321040" y="461772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58200" y="469087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4D6D"/>
                </a:solidFill>
              </a:rPr>
              <a:t>24% / 1%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8458200" y="5422392"/>
            <a:ext cx="315468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Smartwatches: share of revenue / margin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42"/>
                </a:solidFill>
              </a:rPr>
              <a:t>Product Deep Dive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</a:rPr>
              <a:t>The biggest category earns the least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38404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206240" y="1280160"/>
          <a:ext cx="38404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8046720" y="1280160"/>
          <a:ext cx="38404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457200" y="5303520"/>
            <a:ext cx="3657600" cy="1005840"/>
          </a:xfrm>
          <a:prstGeom prst="roundRect">
            <a:avLst>
              <a:gd name="adj" fmla="val 9091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537667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4D6D"/>
                </a:solidFill>
              </a:rPr>
              <a:t>~50%</a:t>
            </a:r>
            <a:endParaRPr lang="en-US" sz="2600" dirty="0"/>
          </a:p>
        </p:txBody>
      </p:sp>
      <p:sp>
        <p:nvSpPr>
          <p:cNvPr id="9" name="Text 4"/>
          <p:cNvSpPr txBox="1"/>
          <p:nvPr/>
        </p:nvSpPr>
        <p:spPr>
          <a:xfrm>
            <a:off x="594360" y="5856732"/>
            <a:ext cx="33832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of revenue is Electronics, at 0.6% margin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4251960" y="5303520"/>
            <a:ext cx="3657600" cy="1005840"/>
          </a:xfrm>
          <a:prstGeom prst="roundRect">
            <a:avLst>
              <a:gd name="adj" fmla="val 9091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4389120" y="537667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9F1C"/>
                </a:solidFill>
              </a:rPr>
              <a:t>20%</a:t>
            </a:r>
            <a:endParaRPr lang="en-US" sz="2600" dirty="0"/>
          </a:p>
        </p:txBody>
      </p:sp>
      <p:sp>
        <p:nvSpPr>
          <p:cNvPr id="12" name="Text 7"/>
          <p:cNvSpPr txBox="1"/>
          <p:nvPr/>
        </p:nvSpPr>
        <p:spPr>
          <a:xfrm>
            <a:off x="4389120" y="5856732"/>
            <a:ext cx="33832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is the discount level where margin turns negative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8046720" y="5303520"/>
            <a:ext cx="3657600" cy="1005840"/>
          </a:xfrm>
          <a:prstGeom prst="roundRect">
            <a:avLst>
              <a:gd name="adj" fmla="val 9091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183880" y="537667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E59D"/>
                </a:solidFill>
              </a:rPr>
              <a:t>33%</a:t>
            </a:r>
            <a:endParaRPr lang="en-US" sz="2600" dirty="0"/>
          </a:p>
        </p:txBody>
      </p:sp>
      <p:sp>
        <p:nvSpPr>
          <p:cNvPr id="15" name="Text 10"/>
          <p:cNvSpPr txBox="1"/>
          <p:nvPr/>
        </p:nvSpPr>
        <p:spPr>
          <a:xfrm>
            <a:off x="8183880" y="5856732"/>
            <a:ext cx="33832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margin in Fashion, the most profitable category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42"/>
                </a:solidFill>
              </a:rPr>
              <a:t>Product &amp; Sales: Key Insights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</a:rPr>
              <a:t>What the data shows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47120" cy="4983480"/>
          </a:xfrm>
          <a:prstGeom prst="roundRect">
            <a:avLst>
              <a:gd name="adj" fmla="val 1835"/>
            </a:avLst>
          </a:prstGeom>
          <a:solidFill>
            <a:srgbClr val="141B2D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107899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00D4FF"/>
                </a:solidFill>
              </a:rPr>
              <a:t>Order Volume Growth: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E6EBF5"/>
                </a:solidFill>
              </a:rPr>
              <a:t>Average monthly volume hovered between 2K and 3.2K orders throughout 2023–2024. A sharp breakout occurred post-September 2025, reaching 9.6K orders in December 2025 (compared to 2.7K in December 2024).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00D4FF"/>
                </a:solidFill>
              </a:rPr>
              <a:t>Top 10 Products: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E6EBF5"/>
                </a:solidFill>
              </a:rPr>
              <a:t>The top 10 SKUs generate ₹65.4M in profit, accounting for 41% of total profitability across 549 products.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00D4FF"/>
                </a:solidFill>
              </a:rPr>
              <a:t>Brand Contribution: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E6EBF5"/>
                </a:solidFill>
              </a:rPr>
              <a:t>Gandhi-Lanka led with ₹13.8M, Setty with ₹11.5M, and Chanda with ₹8.5M. The top 3 brands drive 21% of total profit, while the top 10 brands contribute 44% (out of 142 brands).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00D4FF"/>
                </a:solidFill>
              </a:rPr>
              <a:t>Category Margin Disparity: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E6EBF5"/>
                </a:solidFill>
              </a:rPr>
              <a:t>Electronics generated ₹994M in revenue at a razor-thin 0.6% margin, contributing only 3.8% of profit. In contrast, Fashion generated ₹113M at a 33% margin.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00D4FF"/>
                </a:solidFill>
              </a:rPr>
              <a:t>Discount Elasticity &amp; Erosion: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E6EBF5"/>
                </a:solidFill>
              </a:rPr>
              <a:t>Items discounted between 0–5% maintained a 19% margin. Discounts between 20–30% yielded -9% margin, and discounts exceeding 30% deteriorated to -18% margin. 27% of all items were sold at discounts above 20%, resulting in a ₹46.1M loss, offset by ₹204.7M profit from remaining inventory.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00D4FF"/>
                </a:solidFill>
              </a:rPr>
              <a:t>Underperforming SKUs: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E6EBF5"/>
                </a:solidFill>
              </a:rPr>
              <a:t>The "Kala-Vaidya Deluxe Laptop" recorded the largest individual loss (-₹2.6M). Overall, 32 products operate at a loss (totaling -₹11.3M), predominantly within Laptops, Smartphones, and Smartwatches.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00D4FF"/>
                </a:solidFill>
              </a:rPr>
              <a:t>Product Line Profitability: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E6EBF5"/>
                </a:solidFill>
              </a:rPr>
              <a:t>Winter Wear (₹19.7M), Storage &amp; Containers (₹15.4M), and Formal Shoes (₹10.8M) were the strongest profit contributors. Smartwatches generated ₹468M in revenue but yielded only ₹5.1M in profit (1.1% margin). Laptops and Smartphones operated at -2.3% and -1.9% margins, respectively.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42"/>
                </a:solidFill>
              </a:rPr>
              <a:t>Product &amp; Sales: Recommendations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</a:rPr>
              <a:t>What to do next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47120" cy="4983480"/>
          </a:xfrm>
          <a:prstGeom prst="roundRect">
            <a:avLst>
              <a:gd name="adj" fmla="val 1835"/>
            </a:avLst>
          </a:prstGeom>
          <a:solidFill>
            <a:srgbClr val="141B2D"/>
          </a:solidFill>
          <a:ln w="19050">
            <a:solidFill>
              <a:srgbClr val="2EE59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107899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E6EBF5"/>
                </a:solidFill>
              </a:rPr>
              <a:t>Align supply chain procurement and operational staffing with anticipated Q4 volume spikes.</a:t>
            </a:r>
            <a:endParaRPr lang="en-US" sz="17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E6EBF5"/>
                </a:solidFill>
              </a:rPr>
              <a:t>Maintain high service levels and safety stock for top 10 SKUs while expanding product development to diversify revenue away from a few key items.</a:t>
            </a:r>
            <a:endParaRPr lang="en-US" sz="17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E6EBF5"/>
                </a:solidFill>
              </a:rPr>
              <a:t>Negotiate improved margins and supplier terms with top brands; eliminate aggressive discounting on low-margin brand portfolios.</a:t>
            </a:r>
            <a:endParaRPr lang="en-US" sz="17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E6EBF5"/>
                </a:solidFill>
              </a:rPr>
              <a:t>Overhaul unit economics for Electronics and Appliances, while shifting merchandising focus toward Fashion and Home &amp; Kitchen.</a:t>
            </a:r>
            <a:endParaRPr lang="en-US" sz="17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E6EBF5"/>
                </a:solidFill>
              </a:rPr>
              <a:t>Cap regular promotional discounts at 20%, restricting deeper cuts strictly to end-of-life clearance sales.</a:t>
            </a:r>
            <a:endParaRPr lang="en-US" sz="17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E6EBF5"/>
                </a:solidFill>
              </a:rPr>
              <a:t>Restructure or delist the 32 loss-making SKUs, or bundle them with high-margin accessories to protect gross margins.</a:t>
            </a:r>
            <a:endParaRPr lang="en-US" sz="17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E6EBF5"/>
                </a:solidFill>
              </a:rPr>
              <a:t>Push marketing investments into Winter Wear, Storage &amp; Containers, and Formal Shoes, while immediately repricing Smartwatches, Laptops, and Smartphones.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42"/>
                </a:solidFill>
              </a:rPr>
              <a:t>Customers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</a:rPr>
              <a:t>Power BI dashboard, page 3</a:t>
            </a:r>
            <a:endParaRPr lang="en-US" sz="1400" dirty="0"/>
          </a:p>
        </p:txBody>
      </p:sp>
      <p:pic>
        <p:nvPicPr>
          <p:cNvPr id="4" name="Image 0" descr="/mnt/user-data/uploads/p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589520" cy="42503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21040" y="141732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58200" y="149047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4D6D"/>
                </a:solidFill>
              </a:rPr>
              <a:t>58.9%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8458200" y="2221992"/>
            <a:ext cx="315468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Churn among buyers (53.5% of all 25,000)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321040" y="301752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58200" y="309067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4.5% → 23.5%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458200" y="3822192"/>
            <a:ext cx="315468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Platinum: share of customers → share of spend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321040" y="461772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58200" y="469087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F1C"/>
                </a:solidFill>
              </a:rPr>
              <a:t>11.5K → 6.2K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8458200" y="5422392"/>
            <a:ext cx="315468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New signups 2023 → 2024 (7.3K in 2025)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42"/>
                </a:solidFill>
              </a:rPr>
              <a:t>Customer Deep Dive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</a:rPr>
              <a:t>Few customers bring most of the money, and most of them leave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42062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1280160"/>
          <a:ext cx="36576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8412480" y="1280160"/>
          <a:ext cx="35661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457200" y="5349240"/>
            <a:ext cx="3657600" cy="1005840"/>
          </a:xfrm>
          <a:prstGeom prst="roundRect">
            <a:avLst>
              <a:gd name="adj" fmla="val 9091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542239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</a:rPr>
              <a:t>18% → 60%</a:t>
            </a:r>
            <a:endParaRPr lang="en-US" sz="2600" dirty="0"/>
          </a:p>
        </p:txBody>
      </p:sp>
      <p:sp>
        <p:nvSpPr>
          <p:cNvPr id="9" name="Text 4"/>
          <p:cNvSpPr txBox="1"/>
          <p:nvPr/>
        </p:nvSpPr>
        <p:spPr>
          <a:xfrm>
            <a:off x="594360" y="5902452"/>
            <a:ext cx="33832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Platinum + Gold customers → share of spend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4251960" y="5349240"/>
            <a:ext cx="3657600" cy="1005840"/>
          </a:xfrm>
          <a:prstGeom prst="roundRect">
            <a:avLst>
              <a:gd name="adj" fmla="val 9091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4389120" y="542239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4D6D"/>
                </a:solidFill>
              </a:rPr>
              <a:t>66.9%</a:t>
            </a:r>
            <a:endParaRPr lang="en-US" sz="2600" dirty="0"/>
          </a:p>
        </p:txBody>
      </p:sp>
      <p:sp>
        <p:nvSpPr>
          <p:cNvPr id="12" name="Text 7"/>
          <p:cNvSpPr txBox="1"/>
          <p:nvPr/>
        </p:nvSpPr>
        <p:spPr>
          <a:xfrm>
            <a:off x="4389120" y="5902452"/>
            <a:ext cx="33832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churn in the New segment (Premium 52.5%)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8046720" y="5349240"/>
            <a:ext cx="3657600" cy="1005840"/>
          </a:xfrm>
          <a:prstGeom prst="roundRect">
            <a:avLst>
              <a:gd name="adj" fmla="val 9091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183880" y="542239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9F1C"/>
                </a:solidFill>
              </a:rPr>
              <a:t>57–61%</a:t>
            </a:r>
            <a:endParaRPr lang="en-US" sz="2600" dirty="0"/>
          </a:p>
        </p:txBody>
      </p:sp>
      <p:sp>
        <p:nvSpPr>
          <p:cNvPr id="15" name="Text 10"/>
          <p:cNvSpPr txBox="1"/>
          <p:nvPr/>
        </p:nvSpPr>
        <p:spPr>
          <a:xfrm>
            <a:off x="8183880" y="5902452"/>
            <a:ext cx="33832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churn in every channel, so it is not one channel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42"/>
                </a:solidFill>
              </a:rPr>
              <a:t>Customers: Key Insights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</a:rPr>
              <a:t>What the data shows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47120" cy="4983480"/>
          </a:xfrm>
          <a:prstGeom prst="roundRect">
            <a:avLst>
              <a:gd name="adj" fmla="val 1835"/>
            </a:avLst>
          </a:prstGeom>
          <a:solidFill>
            <a:srgbClr val="141B2D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107899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00D4FF"/>
                </a:solidFill>
              </a:rPr>
              <a:t>Segment Contribution: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E6EBF5"/>
                </a:solidFill>
              </a:rPr>
              <a:t>Premium customers represent 12% of the base but generate 34% of total spend. Budget customers make up 31% of the base but contribute only 14% of spend. New customers account for 13% of the base and 3% of spend.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00D4FF"/>
                </a:solidFill>
              </a:rPr>
              <a:t>Segment Churn: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E6EBF5"/>
                </a:solidFill>
              </a:rPr>
              <a:t>New users exhibited 66.9% churn, Budget 63.0%, Regular 56.4%, and Premium 52.5%, indicating that over half of high-value customers also lapse.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00D4FF"/>
                </a:solidFill>
              </a:rPr>
              <a:t>Acquisition Channel Churn: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E6EBF5"/>
                </a:solidFill>
              </a:rPr>
              <a:t>Churn rates range narrowly from 57.2% (Organic Search, Direct/App) to 61.2% (Affiliate). The marginal 4% variance indicates churn is systemic rather than channel-specific.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00D4FF"/>
                </a:solidFill>
              </a:rPr>
              <a:t>Loyalty Tiers: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E6EBF5"/>
                </a:solidFill>
              </a:rPr>
              <a:t>Platinum members represent 4.5% of users but account for 23.5% of spend. Gold represents 13.6% of users and 36.3% of spend. Bronze comprises 54.6% of users but only 10.1% of total spend.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00D4FF"/>
                </a:solidFill>
              </a:rPr>
              <a:t>Customer Lifecycle Distribution (25,000 Total):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E6EBF5"/>
                </a:solidFill>
              </a:rPr>
              <a:t>Churned: 13,365 (53.5%), Active: 7,234 (28.9%), Never Purchased: 2,300 (9.2%), and At Risk: 2,101 (8.4%).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00D4FF"/>
                </a:solidFill>
              </a:rPr>
              <a:t>Signup Trends: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E6EBF5"/>
                </a:solidFill>
              </a:rPr>
              <a:t>User signups stood at 11,479 in 2023, fell 46% to 6,177 in 2024, and rebounded by 19% to 7,344 in 2025.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00D4FF"/>
                </a:solidFill>
              </a:rPr>
              <a:t>Demographics: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E6EBF5"/>
                </a:solidFill>
              </a:rPr>
              <a:t>The 25–34 age bracket accounts for 41% of spend, followed by 35–44 at 29%, and 18–24 at 22%. Users aged 45+ represent ~8% of spend.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42"/>
                </a:solidFill>
              </a:rPr>
              <a:t>Customers: Recommendations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</a:rPr>
              <a:t>What to do next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47120" cy="4983480"/>
          </a:xfrm>
          <a:prstGeom prst="roundRect">
            <a:avLst>
              <a:gd name="adj" fmla="val 1835"/>
            </a:avLst>
          </a:prstGeom>
          <a:solidFill>
            <a:srgbClr val="141B2D"/>
          </a:solidFill>
          <a:ln w="19050">
            <a:solidFill>
              <a:srgbClr val="2EE59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107899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E6EBF5"/>
                </a:solidFill>
              </a:rPr>
              <a:t>Introduce dedicated tier benefits for Premium and Regular cohorts, with targeted second-order incentives for Budget and New cohorts.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E6EBF5"/>
                </a:solidFill>
              </a:rPr>
              <a:t>Build an onboarding journey (welcome discount, post-purchase touchpoints) to activate first-time signups.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E6EBF5"/>
                </a:solidFill>
              </a:rPr>
              <a:t>Deploy an omnichannel customer retention program across the entire base rather than shifting acquisition channels.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E6EBF5"/>
                </a:solidFill>
              </a:rPr>
              <a:t>Provide Gold and Platinum tiers with priority customer support and early product access, while targeting Silver members with tier-upgrade incentives.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E6EBF5"/>
                </a:solidFill>
              </a:rPr>
              <a:t>Deploy win-back offers to the 2,101 At Risk users, design reactivation workflows for the 13,365 Churned users, and send first-order conversion coupons to the 2,300 Never Purchased accounts.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E6EBF5"/>
                </a:solidFill>
              </a:rPr>
              <a:t>Conduct a root-cause analysis on the 2024 signup decline (budget vs. acquisition channels) to sustain the 2025 recovery trajectory.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E6EBF5"/>
                </a:solidFill>
              </a:rPr>
              <a:t>Focus main commercial acquisition efforts on the 25–44 age demographic, while testing niche channels and assortments for the 45+ segment.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42"/>
                </a:solidFill>
              </a:rPr>
              <a:t>Operations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</a:rPr>
              <a:t>Power BI dashboard, page 4</a:t>
            </a:r>
            <a:endParaRPr lang="en-US" sz="1400" dirty="0"/>
          </a:p>
        </p:txBody>
      </p:sp>
      <p:pic>
        <p:nvPicPr>
          <p:cNvPr id="4" name="Image 0" descr="/mnt/user-data/uploads/p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589520" cy="430091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21040" y="141732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58200" y="149047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4D6D"/>
                </a:solidFill>
              </a:rPr>
              <a:t>42.9%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8458200" y="2221992"/>
            <a:ext cx="315468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of deliveries are late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321040" y="301752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58200" y="309067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F1C"/>
                </a:solidFill>
              </a:rPr>
              <a:t>3.93 vs 3.37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458200" y="3822192"/>
            <a:ext cx="315468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Rating: on-time vs late delivery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321040" y="461772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58200" y="469087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</a:rPr>
              <a:t>12,075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8458200" y="5422392"/>
            <a:ext cx="315468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returns, ₹105.9M refunded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42"/>
                </a:solidFill>
              </a:rPr>
              <a:t>Operations Deep Dive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</a:rPr>
              <a:t>Delivery promises are missed, and many returns are avoidable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56692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126480" y="1280160"/>
          <a:ext cx="57607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5349240"/>
            <a:ext cx="3657600" cy="1005840"/>
          </a:xfrm>
          <a:prstGeom prst="roundRect">
            <a:avLst>
              <a:gd name="adj" fmla="val 9091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94360" y="542239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4D6D"/>
                </a:solidFill>
              </a:rPr>
              <a:t>45%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5902452"/>
            <a:ext cx="33832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of delivered shipments use Standard, and 55% of them are late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4251960" y="5349240"/>
            <a:ext cx="3657600" cy="1005840"/>
          </a:xfrm>
          <a:prstGeom prst="roundRect">
            <a:avLst>
              <a:gd name="adj" fmla="val 9091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389120" y="542239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9F1C"/>
                </a:solidFill>
              </a:rPr>
              <a:t>35.5%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4389120" y="5902452"/>
            <a:ext cx="33832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of returns: damaged, wrong product or late delivery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046720" y="5349240"/>
            <a:ext cx="3657600" cy="1005840"/>
          </a:xfrm>
          <a:prstGeom prst="roundRect">
            <a:avLst>
              <a:gd name="adj" fmla="val 9091"/>
            </a:avLst>
          </a:prstGeom>
          <a:solidFill>
            <a:srgbClr val="141B2D"/>
          </a:solidFill>
          <a:ln w="12700">
            <a:solidFill>
              <a:srgbClr val="26314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183880" y="542239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E59D"/>
                </a:solidFill>
              </a:rPr>
              <a:t>82.1%</a:t>
            </a:r>
            <a:endParaRPr lang="en-US" sz="2600" dirty="0"/>
          </a:p>
        </p:txBody>
      </p:sp>
      <p:sp>
        <p:nvSpPr>
          <p:cNvPr id="14" name="Text 10"/>
          <p:cNvSpPr txBox="1"/>
          <p:nvPr/>
        </p:nvSpPr>
        <p:spPr>
          <a:xfrm>
            <a:off x="8183880" y="5902452"/>
            <a:ext cx="33832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BF5"/>
                </a:solidFill>
              </a:rPr>
              <a:t>payment success, 82–83% for every method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42"/>
                </a:solidFill>
              </a:rPr>
              <a:t>Operations: Key Insights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</a:rPr>
              <a:t>What the data shows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47120" cy="4983480"/>
          </a:xfrm>
          <a:prstGeom prst="roundRect">
            <a:avLst>
              <a:gd name="adj" fmla="val 1835"/>
            </a:avLst>
          </a:prstGeom>
          <a:solidFill>
            <a:srgbClr val="141B2D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107899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00D4FF"/>
                </a:solidFill>
              </a:rPr>
              <a:t>Delivery Delays: </a:t>
            </a:r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E6EBF5"/>
                </a:solidFill>
              </a:rPr>
              <a:t>Late deliveries consistently fluctuated between 38.6% and 46.1% without a sustained downward trend. December 2025's dip to 36.4% was an isolated monthly variation rather than a proven operational fix.</a:t>
            </a:r>
            <a:endParaRPr lang="en-US" sz="17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00D4FF"/>
                </a:solidFill>
              </a:rPr>
              <a:t>Return &amp; Refund Processing: </a:t>
            </a:r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E6EBF5"/>
                </a:solidFill>
              </a:rPr>
              <a:t>Out of 12,075 returns, 70.2% were refunded. 14.8% were approved awaiting payout, 7.2% remained pending review, and 7.8% were rejected. Approximately 22% (2,664 returns) have pending refund resolutions.</a:t>
            </a:r>
            <a:endParaRPr lang="en-US" sz="17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00D4FF"/>
                </a:solidFill>
              </a:rPr>
              <a:t>Payment Reliability: </a:t>
            </a:r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E6EBF5"/>
                </a:solidFill>
              </a:rPr>
              <a:t>Transactions showed 82.1% Success, 10.7% Refunded, 5.1% Failed, and 1.9% Not Charged. The success rate remained uniform (82–83%) across all payment methods.</a:t>
            </a:r>
            <a:endParaRPr lang="en-US" sz="17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00D4FF"/>
                </a:solidFill>
              </a:rPr>
              <a:t>Return Drivers: </a:t>
            </a:r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E6EBF5"/>
                </a:solidFill>
              </a:rPr>
              <a:t>Primary reasons include Sizing Issues (2,201), Customer Changed Mind (1,984), and Damaged Products (1,933). Internal fulfillment errors (Damaged + Incorrect Product + Late Delivery) accounted for 4,287 returns (35.5% of total returns).</a:t>
            </a:r>
            <a:endParaRPr lang="en-US" sz="17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00D4FF"/>
                </a:solidFill>
              </a:rPr>
              <a:t>Delay by Shipping Method: </a:t>
            </a:r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E6EBF5"/>
                </a:solidFill>
              </a:rPr>
              <a:t>Same-Day shipments experienced 57.6% delays, Standard 54.9%, Express 39.8%, Economy 38.3%, and Next-Day 10.9%. Standard remains the primary shipping method (~45% volume share).</a:t>
            </a:r>
            <a:endParaRPr lang="en-US" sz="17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00D4FF"/>
                </a:solidFill>
              </a:rPr>
              <a:t>Customer Sentiment Impact: </a:t>
            </a:r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E6EBF5"/>
                </a:solidFill>
              </a:rPr>
              <a:t>On-time deliveries maintained an average rating of 3.93 versus 3.37 for late deliveries (a 0.56 drop). While correlated, delivery speed is one of multiple contributing factors to low CSAT.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42"/>
                </a:solidFill>
              </a:rPr>
              <a:t>Operations: Recommendations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</a:rPr>
              <a:t>What to do next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47120" cy="4983480"/>
          </a:xfrm>
          <a:prstGeom prst="roundRect">
            <a:avLst>
              <a:gd name="adj" fmla="val 1835"/>
            </a:avLst>
          </a:prstGeom>
          <a:solidFill>
            <a:srgbClr val="141B2D"/>
          </a:solidFill>
          <a:ln w="19050">
            <a:solidFill>
              <a:srgbClr val="2EE59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107899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E6EBF5"/>
                </a:solidFill>
              </a:rPr>
              <a:t>Establish a company-wide SLA to bring delayed shipments below 30%, monitored weekly, and secure buffer fleet capacity for Q4 peak periods.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E6EBF5"/>
                </a:solidFill>
              </a:rPr>
              <a:t>Expedite settlement for the 2,664 pending and approved refunds, and display clear refund tracking timelines inside the user account portal.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E6EBF5"/>
                </a:solidFill>
              </a:rPr>
              <a:t>Implement automated retry logic, alternate payment prompts, and drop-off recovery reminders for failed payment sessions.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E6EBF5"/>
                </a:solidFill>
              </a:rPr>
              <a:t>Improve size charts, measurement guides, and product visuals to curb fit issues; audit warehouse packaging to minimize transit damage; and implement barcode scan verification at packing stations to stop wrong dispatches.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E6EBF5"/>
                </a:solidFill>
              </a:rPr>
              <a:t>Recalibrate estimated delivery dates (EDDs) shown at checkout for Standard and Same-Day options, renegotiate partner carrier SLAs, and benchmark Standard processes against the Next-Day operational model (10.9% delay).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E6EBF5"/>
                </a:solidFill>
              </a:rPr>
              <a:t>Trigger automated apologies paired with small discount vouchers for delayed consignments to protect customer satisfaction ratings.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42"/>
                </a:solidFill>
              </a:rPr>
              <a:t>Key Insights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</a:rPr>
              <a:t>Eight findings from the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141B2D"/>
          </a:solidFill>
          <a:ln w="19050">
            <a:solidFill>
              <a:srgbClr val="2EE59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E59D"/>
                </a:solidFill>
              </a:rPr>
              <a:t>Growth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BF5"/>
                </a:solidFill>
              </a:rPr>
              <a:t>2025 revenue rose 68% with a steady 8% margin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137160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141B2D"/>
          </a:solidFill>
          <a:ln w="19050">
            <a:solidFill>
              <a:srgbClr val="FF4D6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D6D"/>
                </a:solidFill>
              </a:rPr>
              <a:t>Concentration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18288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BF5"/>
                </a:solidFill>
              </a:rPr>
              <a:t>Electronics gives ~50% of revenue at 0.6% margin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141B2D"/>
          </a:solidFill>
          <a:ln w="19050">
            <a:solidFill>
              <a:srgbClr val="FF4D6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697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D6D"/>
                </a:solidFill>
              </a:rPr>
              <a:t>Discounts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06324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BF5"/>
                </a:solidFill>
              </a:rPr>
              <a:t>Above 20% discount, every order loses money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260604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141B2D"/>
          </a:solidFill>
          <a:ln w="19050">
            <a:solidFill>
              <a:srgbClr val="FF9F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2697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F1C"/>
                </a:solidFill>
              </a:rPr>
              <a:t>Loss items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306324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BF5"/>
                </a:solidFill>
              </a:rPr>
              <a:t>₹69.8M lost on loss-making items; Laptops and Smartphones are negative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141B2D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931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Customers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29768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BF5"/>
                </a:solidFill>
              </a:rPr>
              <a:t>Top 20% of customers give 63% of spend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26480" y="384048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141B2D"/>
          </a:solidFill>
          <a:ln w="19050">
            <a:solidFill>
              <a:srgbClr val="FF4D6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09360" y="3931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D6D"/>
                </a:solidFill>
              </a:rPr>
              <a:t>Retention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429768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BF5"/>
                </a:solidFill>
              </a:rPr>
              <a:t>58.9% of buyers have churned, in every channel alike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507492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141B2D"/>
          </a:solidFill>
          <a:ln w="19050">
            <a:solidFill>
              <a:srgbClr val="FF9F1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5166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F1C"/>
                </a:solidFill>
              </a:rPr>
              <a:t>Delivery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5321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BF5"/>
                </a:solidFill>
              </a:rPr>
              <a:t>42.9% late; Same-Day 57.6%, Standard 54.9%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26480" y="507492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141B2D"/>
          </a:solidFill>
          <a:ln w="19050">
            <a:solidFill>
              <a:srgbClr val="FF9F1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09360" y="5166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F1C"/>
                </a:solidFill>
              </a:rPr>
              <a:t>Impact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55321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BF5"/>
                </a:solidFill>
              </a:rPr>
              <a:t>Late delivery cuts rating from 3.93 to 3.37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42"/>
                </a:solidFill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</a:rPr>
              <a:t>What to do next, and what to track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778240" y="1234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CC"/>
                </a:solidFill>
              </a:rPr>
              <a:t>Metric to track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47120" cy="859536"/>
          </a:xfrm>
          <a:prstGeom prst="roundRect">
            <a:avLst>
              <a:gd name="adj" fmla="val 10638"/>
            </a:avLst>
          </a:prstGeom>
          <a:solidFill>
            <a:srgbClr val="141B2D"/>
          </a:solidFill>
          <a:ln w="19050">
            <a:solidFill>
              <a:srgbClr val="FF4D6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3108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D6D"/>
                </a:solidFill>
              </a:rPr>
              <a:t>Cap discounts at 20%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1554480"/>
            <a:ext cx="4846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BF5"/>
                </a:solidFill>
              </a:rPr>
              <a:t>Orders above 20% discount lose money. Review every coupon and campaign above that level.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869680" y="1554480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BF5"/>
                </a:solidFill>
              </a:rPr>
              <a:t>Margin by discount band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505456"/>
            <a:ext cx="11247120" cy="859536"/>
          </a:xfrm>
          <a:prstGeom prst="roundRect">
            <a:avLst>
              <a:gd name="adj" fmla="val 10638"/>
            </a:avLst>
          </a:prstGeom>
          <a:solidFill>
            <a:srgbClr val="141B2D"/>
          </a:solidFill>
          <a:ln w="19050">
            <a:solidFill>
              <a:srgbClr val="FF9F1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05456"/>
            <a:ext cx="3108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F1C"/>
                </a:solidFill>
              </a:rPr>
              <a:t>Fix Electronics pricing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2505456"/>
            <a:ext cx="4846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BF5"/>
                </a:solidFill>
              </a:rPr>
              <a:t>Half the revenue earns about 1%. Review cost and price for Smartwatches, Laptops, Smartphones.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869680" y="2505456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BF5"/>
                </a:solidFill>
              </a:rPr>
              <a:t>Electronics margin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456432"/>
            <a:ext cx="11247120" cy="859536"/>
          </a:xfrm>
          <a:prstGeom prst="roundRect">
            <a:avLst>
              <a:gd name="adj" fmla="val 10638"/>
            </a:avLst>
          </a:prstGeom>
          <a:solidFill>
            <a:srgbClr val="141B2D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456432"/>
            <a:ext cx="3108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Fix Standard and Same-Day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3456432"/>
            <a:ext cx="4846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BF5"/>
                </a:solidFill>
              </a:rPr>
              <a:t>55–58% are late. Set realistic promises and review courier performance.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869680" y="3456432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BF5"/>
                </a:solidFill>
              </a:rPr>
              <a:t>Late delivery 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407408"/>
            <a:ext cx="11247120" cy="859536"/>
          </a:xfrm>
          <a:prstGeom prst="roundRect">
            <a:avLst>
              <a:gd name="adj" fmla="val 10638"/>
            </a:avLst>
          </a:prstGeom>
          <a:solidFill>
            <a:srgbClr val="141B2D"/>
          </a:solidFill>
          <a:ln w="19050">
            <a:solidFill>
              <a:srgbClr val="2EE59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407408"/>
            <a:ext cx="3108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E59D"/>
                </a:solidFill>
              </a:rPr>
              <a:t>Protect top customers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840480" y="4407408"/>
            <a:ext cx="4846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BF5"/>
                </a:solidFill>
              </a:rPr>
              <a:t>Gold and Platinum give ~60% of spend. Add a retention program and better onboarding for New customers.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869680" y="4407408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BF5"/>
                </a:solidFill>
              </a:rPr>
              <a:t>Churn rate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5358384"/>
            <a:ext cx="11247120" cy="859536"/>
          </a:xfrm>
          <a:prstGeom prst="roundRect">
            <a:avLst>
              <a:gd name="adj" fmla="val 10638"/>
            </a:avLst>
          </a:prstGeom>
          <a:solidFill>
            <a:srgbClr val="141B2D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5358384"/>
            <a:ext cx="3108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542"/>
                </a:solidFill>
              </a:rPr>
              <a:t>Cut avoidable returns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840480" y="5358384"/>
            <a:ext cx="4846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BF5"/>
                </a:solidFill>
              </a:rPr>
              <a:t>Improve packaging, quality checks, order accuracy and size guides.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869680" y="5358384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BF5"/>
                </a:solidFill>
              </a:rPr>
              <a:t>Return rate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42"/>
                </a:solidFill>
              </a:rPr>
              <a:t>Limitations and Next Steps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</a:rPr>
              <a:t>What to keep in mind, and where the project can grow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141B2D"/>
          </a:solidFill>
          <a:ln w="19050">
            <a:solidFill>
              <a:srgbClr val="FF9F1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F1C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6EBF5"/>
                </a:solidFill>
              </a:rPr>
              <a:t>Customer spend and order counts come from stored customer fields, which cover all order statuses and differ slightly from the orders table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6EBF5"/>
                </a:solidFill>
              </a:rPr>
              <a:t>Churn comes from the dataset's customer status field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6EBF5"/>
                </a:solidFill>
              </a:rPr>
              <a:t>Late delivery and low ratings move together, but this does not prove delay is the only cause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6EBF5"/>
                </a:solidFill>
              </a:rPr>
              <a:t>Revenue and profit exclude cancelled, failed and returned orders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141B2D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Next steps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103120"/>
            <a:ext cx="5029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</a:rPr>
              <a:t>Rebuild the same dashboards in Tableau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</a:rPr>
              <a:t>Marketing deep dive: ROI of 151 campaigns by channel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</a:rPr>
              <a:t>Customer metrics from the orders table, Delivered only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</a:rPr>
              <a:t>Build a churn prediction model in Python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BF5"/>
                </a:solidFill>
              </a:rPr>
              <a:t>Forecast monthly orders for 2026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C542"/>
                </a:solidFill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D4FF"/>
                </a:solidFill>
              </a:rPr>
              <a:t>Tools: Python (pandas) · MySQL · Power BI · DAX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B8CC"/>
                </a:solidFill>
              </a:rPr>
              <a:t>Questions and feedback are welcome.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8C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dnight Neon">
  <a:themeElements>
    <a:clrScheme name="Midnight Neon">
      <a:dk1>
        <a:srgbClr val="0B0F1A"/>
      </a:dk1>
      <a:lt1>
        <a:srgbClr val="FFFFFF"/>
      </a:lt1>
      <a:dk2>
        <a:srgbClr val="141B2D"/>
      </a:dk2>
      <a:lt2>
        <a:srgbClr val="E6EBF5"/>
      </a:lt2>
      <a:accent1>
        <a:srgbClr val="00D4FF"/>
      </a:accent1>
      <a:accent2>
        <a:srgbClr val="F5C542"/>
      </a:accent2>
      <a:accent3>
        <a:srgbClr val="2EE59D"/>
      </a:accent3>
      <a:accent4>
        <a:srgbClr val="FF9F1C"/>
      </a:accent4>
      <a:accent5>
        <a:srgbClr val="FF4D6D"/>
      </a:accent5>
      <a:accent6>
        <a:srgbClr val="7C5CFF"/>
      </a:accent6>
      <a:hlink>
        <a:srgbClr val="00D4FF"/>
      </a:hlink>
      <a:folHlink>
        <a:srgbClr val="7C5CFF"/>
      </a:folHlink>
    </a:clrScheme>
    <a:fontScheme name="Midnight Neo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2026-10-17T08:27:37Z</dcterms:created>
  <dcterms:modified xsi:type="dcterms:W3CDTF">2026-10-17T08:27:37Z</dcterms:modified>
</cp:coreProperties>
</file>