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Delivered revenue by year (₹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A86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546.8</c:v>
                </c:pt>
                <c:pt idx="1">
                  <c:v>536.3</c:v>
                </c:pt>
                <c:pt idx="2">
                  <c:v>901.8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All orders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7A86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26750</c:v>
                </c:pt>
                <c:pt idx="1">
                  <c:v>26730</c:v>
                </c:pt>
                <c:pt idx="2">
                  <c:v>46520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Revenue by category (₹ million)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Appliances</c:v>
                  </c:pt>
                  <c:pt idx="2">
                    <c:v>Home &amp; Kitchen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994</c:v>
                </c:pt>
                <c:pt idx="1">
                  <c:v>326</c:v>
                </c:pt>
                <c:pt idx="2">
                  <c:v>128</c:v>
                </c:pt>
                <c:pt idx="3">
                  <c:v>121</c:v>
                </c:pt>
                <c:pt idx="4">
                  <c:v>113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Profit margin by category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E59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Appliances</c:v>
                  </c:pt>
                  <c:pt idx="2">
                    <c:v>Home &amp; Kitchen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3.9</c:v>
                </c:pt>
                <c:pt idx="2">
                  <c:v>18</c:v>
                </c:pt>
                <c:pt idx="3">
                  <c:v>9.7</c:v>
                </c:pt>
                <c:pt idx="4">
                  <c:v>33.2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Margin by discount band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0-5%</c:v>
                  </c:pt>
                  <c:pt idx="1">
                    <c:v>5-10%</c:v>
                  </c:pt>
                  <c:pt idx="2">
                    <c:v>10-20%</c:v>
                  </c:pt>
                  <c:pt idx="3">
                    <c:v>20-30%</c:v>
                  </c:pt>
                  <c:pt idx="4">
                    <c:v>30%+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12</c:v>
                </c:pt>
                <c:pt idx="2">
                  <c:v>4</c:v>
                </c:pt>
                <c:pt idx="3">
                  <c:v>-9</c:v>
                </c:pt>
                <c:pt idx="4">
                  <c:v>-18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Loyalty tier: customers vs spend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%</c:v>
                </c:pt>
              </c:strCache>
            </c:strRef>
          </c:tx>
          <c:spPr>
            <a:solidFill>
              <a:srgbClr val="7A86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Platinum</c:v>
                  </c:pt>
                  <c:pt idx="1">
                    <c:v>Gold</c:v>
                  </c:pt>
                  <c:pt idx="2">
                    <c:v>Silver</c:v>
                  </c:pt>
                  <c:pt idx="3">
                    <c:v>Bronze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13.6</c:v>
                </c:pt>
                <c:pt idx="2">
                  <c:v>27.2</c:v>
                </c:pt>
                <c:pt idx="3">
                  <c:v>54.6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 %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Platinum</c:v>
                  </c:pt>
                  <c:pt idx="1">
                    <c:v>Gold</c:v>
                  </c:pt>
                  <c:pt idx="2">
                    <c:v>Silver</c:v>
                  </c:pt>
                  <c:pt idx="3">
                    <c:v>Bronze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23.5</c:v>
                </c:pt>
                <c:pt idx="1">
                  <c:v>36.3</c:v>
                </c:pt>
                <c:pt idx="2">
                  <c:v>30.2</c:v>
                </c:pt>
                <c:pt idx="3">
                  <c:v>10.1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6EBF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Customer status (25,000)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bubble3D val="0"/>
            <c:spPr>
              <a:solidFill>
                <a:srgbClr val="2EE59D"/>
              </a:solidFill>
              <a:effectLst/>
            </c:spPr>
          </c:dPt>
          <c:dPt>
            <c:idx val="2"/>
            <c:bubble3D val="0"/>
            <c:spPr>
              <a:solidFill>
                <a:srgbClr val="7A869F"/>
              </a:solidFill>
              <a:effectLst/>
            </c:spPr>
          </c:dPt>
          <c:dPt>
            <c:idx val="3"/>
            <c:bubble3D val="0"/>
            <c:spPr>
              <a:solidFill>
                <a:srgbClr val="FF9F1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Churned</c:v>
                </c:pt>
                <c:pt idx="1">
                  <c:v>Active</c:v>
                </c:pt>
                <c:pt idx="2">
                  <c:v>Never purchased</c:v>
                </c:pt>
                <c:pt idx="3">
                  <c:v>At risk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13365</c:v>
                </c:pt>
                <c:pt idx="1">
                  <c:v>7234</c:v>
                </c:pt>
                <c:pt idx="2">
                  <c:v>2300</c:v>
                </c:pt>
                <c:pt idx="3">
                  <c:v>2101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6EBF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New customers by signup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Signups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11479</c:v>
                </c:pt>
                <c:pt idx="1">
                  <c:v>6177</c:v>
                </c:pt>
                <c:pt idx="2">
                  <c:v>7344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Late deliveries by shipping method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E59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Same-Day</c:v>
                  </c:pt>
                  <c:pt idx="1">
                    <c:v>Standard</c:v>
                  </c:pt>
                  <c:pt idx="2">
                    <c:v>Express</c:v>
                  </c:pt>
                  <c:pt idx="3">
                    <c:v>Economy</c:v>
                  </c:pt>
                  <c:pt idx="4">
                    <c:v>Next-Day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57.6</c:v>
                </c:pt>
                <c:pt idx="1">
                  <c:v>54.9</c:v>
                </c:pt>
                <c:pt idx="2">
                  <c:v>39.8</c:v>
                </c:pt>
                <c:pt idx="3">
                  <c:v>38.3</c:v>
                </c:pt>
                <c:pt idx="4">
                  <c:v>10.9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Return reasons (count)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Size issue</c:v>
                  </c:pt>
                  <c:pt idx="1">
                    <c:v>Changed mind</c:v>
                  </c:pt>
                  <c:pt idx="2">
                    <c:v>Product damaged</c:v>
                  </c:pt>
                  <c:pt idx="3">
                    <c:v>Quality issue</c:v>
                  </c:pt>
                  <c:pt idx="4">
                    <c:v>Not as expected</c:v>
                  </c:pt>
                  <c:pt idx="5">
                    <c:v>Wrong product</c:v>
                  </c:pt>
                  <c:pt idx="6">
                    <c:v>Late delivery</c:v>
                  </c:pt>
                  <c:pt idx="7">
                    <c:v>Other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2201</c:v>
                </c:pt>
                <c:pt idx="1">
                  <c:v>1984</c:v>
                </c:pt>
                <c:pt idx="2">
                  <c:v>1933</c:v>
                </c:pt>
                <c:pt idx="3">
                  <c:v>1692</c:v>
                </c:pt>
                <c:pt idx="4">
                  <c:v>1442</c:v>
                </c:pt>
                <c:pt idx="5">
                  <c:v>1394</c:v>
                </c:pt>
                <c:pt idx="6">
                  <c:v>960</c:v>
                </c:pt>
                <c:pt idx="7">
                  <c:v>469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C542"/>
                </a:solidFill>
              </a:rPr>
              <a:t>INDIAN E-COMMERCE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6EBF5"/>
                </a:solidFill>
              </a:rPr>
              <a:t>Performance Analysis Dashboard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Python  |  SQL  |  Power BI      Jan 2023 – Dec 2025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</a:rPr>
              <a:t>1,00,000 orders · 25,000 customers · 9 data tables · 4 dashboard pages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Raw data to business decisions in three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1,00,000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Orders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25,000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Customers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550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Products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36 months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Jan 2023 – Dec 2025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1. Python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862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</a:rPr>
              <a:t>Cleaned 9 tables with pandas: checked duplicates, filled missing values, fixed date types.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51960" y="31089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</a:rPr>
              <a:t>2. SQL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862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</a:rPr>
              <a:t>Answered business questions in MySQL: customers, products, revenue, repeat purchase, campaigns.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59D"/>
                </a:solidFill>
              </a:rPr>
              <a:t>3. Power BI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8862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</a:rPr>
              <a:t>Built 4 dashboard pages with DAX measures: Executive Overview, Product &amp; Sales, Customers, Operations.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Data Sources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9 tables, linked through order_id, customer_id, product_id and campaign_id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6858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date, status, state, amount, 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2,54,331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Quantity, revenue, cost, profit per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Segment, loyalty tier, status, signup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brand, price,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Dispatch, delivery days, delay flag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Method, status, amount, refund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customer_reviews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77,530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Rating, sentiment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Reason, status, refund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marketing_campaigns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Channel, cost, revenue, ROI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Cleaning and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was changed in the data, and how the metrics are defined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Python cleaning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No duplicate rows found in any table; no rows deleted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review sentiment (233) filled from the rating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age (250) filled with the median of its age group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preferred device (125) set to "Unknown"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product rating (4) filled with the category median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Text dates converted to date type; year, month, day columns added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E59D"/>
                </a:solidFill>
              </a:rPr>
              <a:t>Metric definitions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Revenue and profit: Delivered orders only (₹1.98bn, ₹158.6M)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Margin = profit ÷ item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Churn rate = churned ÷ customers who ever bought (58.9%)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Late delivery = delayed flag on delivered shipments (42.9%)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Return rate = orders with a return ÷ all orders (9.5%)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Customer spend fields include all order statuses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Business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Delivered orders, Jan 2023 – Dec 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₹1.98bn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Revenue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50008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59D"/>
                </a:solidFill>
              </a:rPr>
              <a:t>₹158.6M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Profit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42816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9976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8%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79976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Profit margin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35624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2784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1,00,000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Total orders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28432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65592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₹24.6K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165592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Avg order value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92124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</a:rPr>
              <a:t>9.5%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Return rate</a:t>
            </a:r>
            <a:endParaRPr lang="en-US" sz="12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43200"/>
          <a:ext cx="3657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4206240" y="2743200"/>
          <a:ext cx="3657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8046720" y="283464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296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42"/>
                </a:solidFill>
              </a:rPr>
              <a:t>What this shows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8229600" y="347472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</a:rPr>
              <a:t>2025 revenue grew 68% over 2024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</a:rPr>
              <a:t>Orders rose 74% in 2025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</a:rPr>
              <a:t>Margin stayed steady: 7.8%, 7.9%, 8.2%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Executive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1</a:t>
            </a:r>
            <a:endParaRPr lang="en-US" sz="1400" dirty="0"/>
          </a:p>
        </p:txBody>
      </p:sp>
      <p:pic>
        <p:nvPicPr>
          <p:cNvPr id="4" name="Image 0" descr="/mnt/user-data/uploads/179199313192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262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₹1.98bn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Revenue, ₹158.6M profit, 8% margin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59D"/>
                </a:solidFill>
              </a:rPr>
              <a:t>3.5x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Dec 2025 orders (9.6K) vs Dec 2024 (2.7K)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~50% / 1%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Electronics: share of revenue / profit margin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Product &amp; Sales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2</a:t>
            </a:r>
            <a:endParaRPr lang="en-US" sz="1400" dirty="0"/>
          </a:p>
        </p:txBody>
      </p:sp>
      <p:pic>
        <p:nvPicPr>
          <p:cNvPr id="4" name="Image 0" descr="/mnt/user-data/uploads/179199314247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2149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-18%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Margin above 30% discount (-9% for 20-30%)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-₹69.8M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Lost on loss-making items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24% / 1%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Smartwatches: share of revenue / margin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Product Deep Dive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The biggest category earns the least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28016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28016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530352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5376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~50%</a:t>
            </a:r>
            <a:endParaRPr lang="en-US" sz="2600" dirty="0"/>
          </a:p>
        </p:txBody>
      </p:sp>
      <p:sp>
        <p:nvSpPr>
          <p:cNvPr id="9" name="Text 4"/>
          <p:cNvSpPr txBox="1"/>
          <p:nvPr/>
        </p:nvSpPr>
        <p:spPr>
          <a:xfrm>
            <a:off x="594360" y="585673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revenue is Electronics, at 0.6% margin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251960" y="530352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389120" y="5376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20%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4389120" y="585673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is the discount level where margin turns negative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046720" y="530352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83880" y="5376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59D"/>
                </a:solidFill>
              </a:rPr>
              <a:t>33%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585673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margin in Fashion, the most profitable category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Customers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3</a:t>
            </a:r>
            <a:endParaRPr lang="en-US" sz="1400" dirty="0"/>
          </a:p>
        </p:txBody>
      </p:sp>
      <p:pic>
        <p:nvPicPr>
          <p:cNvPr id="4" name="Image 0" descr="/mnt/user-data/uploads/179213444077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2434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58.9%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Churn among buyers (53.5% of all 25,000)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4.5% → 23.5%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Platinum: share of customers → share of spend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</a:rPr>
              <a:t>11.5K → 6.2K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New signups 2023 → 2024 (7.3K in 2025)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Customer Deep Dive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Few customers bring most of the money, and most of them leave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412480" y="1280160"/>
          <a:ext cx="3566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18% → 60%</a:t>
            </a:r>
            <a:endParaRPr lang="en-US" sz="2600" dirty="0"/>
          </a:p>
        </p:txBody>
      </p:sp>
      <p:sp>
        <p:nvSpPr>
          <p:cNvPr id="9" name="Text 4"/>
          <p:cNvSpPr txBox="1"/>
          <p:nvPr/>
        </p:nvSpPr>
        <p:spPr>
          <a:xfrm>
            <a:off x="59436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Platinum + Gold customers → share of spend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25196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38912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66.9%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438912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churn in the New segment (Premium 52.5%)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04672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8388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57–61%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churn in every channel, so it is not one channel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Operations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4</a:t>
            </a:r>
            <a:endParaRPr lang="en-US" sz="1400" dirty="0"/>
          </a:p>
        </p:txBody>
      </p:sp>
      <p:pic>
        <p:nvPicPr>
          <p:cNvPr id="4" name="Image 0" descr="/mnt/user-data/uploads/179213447723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2132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42.9%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deliveries are late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</a:rPr>
              <a:t>3.93 vs 3.37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Rating: on-time vs late delivery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12,075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returns, ₹105.9M refunded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Operations Deep Dive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Delivery promises are missed, and many returns are avoidable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26480" y="128016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45%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delivered shipments use Standard, and 55% of them are late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25196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8912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35.5%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returns: damaged, wrong product or late delivery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8388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59D"/>
                </a:solidFill>
              </a:rPr>
              <a:t>82.1%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payment success, 82–83% for every method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Eight findings from the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59D"/>
                </a:solidFill>
              </a:rPr>
              <a:t>Growth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2025 revenue rose 68% with a steady 8% margin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Concentration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28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Electronics gives ~50% of revenue at 0.6% margin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Discounts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63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Above 20% discount, every order loses money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Loss items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063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₹69.8M lost on loss-making items; Laptops and Smartphones are negative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Customers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97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Top 20% of customers give 63% of spend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Retention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97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58.9% of buyers have churned, in every channel alike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Delivery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42.9% late; Same-Day 57.6%, Standard 54.9%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50749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Impact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Late delivery cuts rating from 3.93 to 3.37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do next, and what to track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C"/>
                </a:solidFill>
              </a:rPr>
              <a:t>Metric to track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Cap discounts at 20%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554480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Orders above 20% discount lose money. Review every coupon and campaign above that level.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1554480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Margin by discount band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05456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Fix Electronics pricing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505456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Half the revenue earns about 1%. Review cost and price for Smartwatches, Laptops, Smartphones.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2505456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Electronics margin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56432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Fix Standard and Same-Day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456432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55–58% are late. Set realistic promises and review courier performance.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345643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Late delivery 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07408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40740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59D"/>
                </a:solidFill>
              </a:rPr>
              <a:t>Protect top customers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407408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Gold and Platinum give ~60% of spend. Add a retention program and better onboarding for New customers.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44074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Churn rate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358384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58384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Cut avoidable returns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5358384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Improve packaging, quality checks, order accuracy and size guides.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535838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Return rate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keep in mind, and where the project can grow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Customer spend and order counts come from stored customer fields, which cover all order statuses and differ slightly from the orders table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Churn comes from the dataset's customer status field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Late delivery and low ratings move together, but this does not prove delay is the only cause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Revenue and profit exclude cancelled, failed and returned orders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Rebuild the same dashboards in Tableau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Marketing deep dive: ROI of 151 campaigns by channel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Customer metrics from the orders table, Delivered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Build a churn prediction model in Python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Forecast monthly orders for 2026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C542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Tools: Python (pandas) · MySQL · Power BI · DAX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8CC"/>
                </a:solidFill>
              </a:rPr>
              <a:t>Questions and feedback are welcome.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Neon">
  <a:themeElements>
    <a:clrScheme name="Midnight Neon">
      <a:dk1>
        <a:srgbClr val="0B0F1A"/>
      </a:dk1>
      <a:lt1>
        <a:srgbClr val="FFFFFF"/>
      </a:lt1>
      <a:dk2>
        <a:srgbClr val="141B2D"/>
      </a:dk2>
      <a:lt2>
        <a:srgbClr val="E6EBF5"/>
      </a:lt2>
      <a:accent1>
        <a:srgbClr val="00D4FF"/>
      </a:accent1>
      <a:accent2>
        <a:srgbClr val="F5C542"/>
      </a:accent2>
      <a:accent3>
        <a:srgbClr val="2EE59D"/>
      </a:accent3>
      <a:accent4>
        <a:srgbClr val="FF9F1C"/>
      </a:accent4>
      <a:accent5>
        <a:srgbClr val="FF4D6D"/>
      </a:accent5>
      <a:accent6>
        <a:srgbClr val="7C5CFF"/>
      </a:accent6>
      <a:hlink>
        <a:srgbClr val="00D4FF"/>
      </a:hlink>
      <a:folHlink>
        <a:srgbClr val="7C5CFF"/>
      </a:folHlink>
    </a:clrScheme>
    <a:fontScheme name="Midnight Ne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2026-10-16T07:10:22Z</dcterms:created>
  <dcterms:modified xsi:type="dcterms:W3CDTF">2026-10-16T07:10:22Z</dcterms:modified>
</cp:coreProperties>
</file>